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3"/>
  </p:notesMasterIdLst>
  <p:handoutMasterIdLst>
    <p:handoutMasterId r:id="rId14"/>
  </p:handoutMasterIdLst>
  <p:sldIdLst>
    <p:sldId id="256" r:id="rId5"/>
    <p:sldId id="257" r:id="rId6"/>
    <p:sldId id="269" r:id="rId7"/>
    <p:sldId id="270" r:id="rId8"/>
    <p:sldId id="271" r:id="rId9"/>
    <p:sldId id="272" r:id="rId10"/>
    <p:sldId id="273" r:id="rId11"/>
    <p:sldId id="268" r:id="rId12"/>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46" autoAdjust="0"/>
    <p:restoredTop sz="94660"/>
  </p:normalViewPr>
  <p:slideViewPr>
    <p:cSldViewPr snapToGrid="0">
      <p:cViewPr varScale="1">
        <p:scale>
          <a:sx n="82" d="100"/>
          <a:sy n="82" d="100"/>
        </p:scale>
        <p:origin x="1661"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just"/>
            <a:r>
              <a:rPr lang="en-US"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NODWISE: A Smart ML Framework for Continuous Head Movement Awareness</a:t>
            </a:r>
            <a:endParaRPr lang="en-US" sz="2000" spc="-1" dirty="0" smtClean="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err="1" smtClean="0">
                <a:solidFill>
                  <a:srgbClr val="000000"/>
                </a:solidFill>
                <a:latin typeface="Times New Roman" panose="02020603050405020304" pitchFamily="18" charset="0"/>
                <a:ea typeface="MS PGothic"/>
                <a:cs typeface="Times New Roman" panose="02020603050405020304" pitchFamily="18" charset="0"/>
              </a:rPr>
              <a:t>Keshav</a:t>
            </a:r>
            <a:r>
              <a:rPr lang="en-US" sz="2000" spc="-1" dirty="0" smtClean="0">
                <a:solidFill>
                  <a:srgbClr val="000000"/>
                </a:solidFill>
                <a:latin typeface="Times New Roman" panose="02020603050405020304" pitchFamily="18" charset="0"/>
                <a:ea typeface="MS PGothic"/>
                <a:cs typeface="Times New Roman" panose="02020603050405020304" pitchFamily="18" charset="0"/>
              </a:rPr>
              <a:t> </a:t>
            </a:r>
            <a:r>
              <a:rPr lang="en-US" sz="2000" spc="-1" dirty="0" err="1" smtClean="0">
                <a:solidFill>
                  <a:srgbClr val="000000"/>
                </a:solidFill>
                <a:latin typeface="Times New Roman" panose="02020603050405020304" pitchFamily="18" charset="0"/>
                <a:ea typeface="MS PGothic"/>
                <a:cs typeface="Times New Roman" panose="02020603050405020304" pitchFamily="18" charset="0"/>
              </a:rPr>
              <a:t>Wadhwa</a:t>
            </a:r>
            <a:r>
              <a:rPr lang="en-US" sz="2000" spc="-1" dirty="0" smtClean="0">
                <a:solidFill>
                  <a:srgbClr val="000000"/>
                </a:solidFill>
                <a:latin typeface="Times New Roman" panose="02020603050405020304" pitchFamily="18" charset="0"/>
                <a:ea typeface="MS PGothic"/>
                <a:cs typeface="Times New Roman" panose="02020603050405020304" pitchFamily="18" charset="0"/>
              </a:rPr>
              <a:t> (2210990506)</a:t>
            </a:r>
          </a:p>
          <a:p>
            <a:pPr algn="ctr">
              <a:lnSpc>
                <a:spcPct val="100000"/>
              </a:lnSpc>
              <a:spcBef>
                <a:spcPts val="400"/>
              </a:spcBef>
            </a:pPr>
            <a:r>
              <a:rPr lang="en-US" sz="2000" spc="-1" dirty="0" err="1" smtClean="0">
                <a:solidFill>
                  <a:srgbClr val="000000"/>
                </a:solidFill>
                <a:latin typeface="Times New Roman" panose="02020603050405020304" pitchFamily="18" charset="0"/>
                <a:ea typeface="MS PGothic"/>
                <a:cs typeface="Times New Roman" panose="02020603050405020304" pitchFamily="18" charset="0"/>
              </a:rPr>
              <a:t>Nishit</a:t>
            </a:r>
            <a:r>
              <a:rPr lang="en-US" sz="2000" spc="-1" dirty="0" smtClean="0">
                <a:solidFill>
                  <a:srgbClr val="000000"/>
                </a:solidFill>
                <a:latin typeface="Times New Roman" panose="02020603050405020304" pitchFamily="18" charset="0"/>
                <a:ea typeface="MS PGothic"/>
                <a:cs typeface="Times New Roman" panose="02020603050405020304" pitchFamily="18" charset="0"/>
              </a:rPr>
              <a:t> </a:t>
            </a:r>
            <a:r>
              <a:rPr lang="en-US" sz="2000" spc="-1" dirty="0" err="1" smtClean="0">
                <a:solidFill>
                  <a:srgbClr val="000000"/>
                </a:solidFill>
                <a:latin typeface="Times New Roman" panose="02020603050405020304" pitchFamily="18" charset="0"/>
                <a:ea typeface="MS PGothic"/>
                <a:cs typeface="Times New Roman" panose="02020603050405020304" pitchFamily="18" charset="0"/>
              </a:rPr>
              <a:t>Ranjan</a:t>
            </a:r>
            <a:r>
              <a:rPr lang="en-US" sz="2000" spc="-1" dirty="0" smtClean="0">
                <a:solidFill>
                  <a:srgbClr val="000000"/>
                </a:solidFill>
                <a:latin typeface="Times New Roman" panose="02020603050405020304" pitchFamily="18" charset="0"/>
                <a:ea typeface="MS PGothic"/>
                <a:cs typeface="Times New Roman" panose="02020603050405020304" pitchFamily="18" charset="0"/>
              </a:rPr>
              <a:t> (2210991991)</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err="1" smtClean="0">
                <a:solidFill>
                  <a:srgbClr val="000000"/>
                </a:solidFill>
                <a:latin typeface="Times New Roman" panose="02020603050405020304" pitchFamily="18" charset="0"/>
                <a:ea typeface="MS PGothic"/>
                <a:cs typeface="Times New Roman" panose="02020603050405020304" pitchFamily="18" charset="0"/>
              </a:rPr>
              <a:t>Ritesh</a:t>
            </a:r>
            <a:r>
              <a:rPr lang="en-US" sz="2000" spc="-1" dirty="0" smtClean="0">
                <a:solidFill>
                  <a:srgbClr val="000000"/>
                </a:solidFill>
                <a:latin typeface="Times New Roman" panose="02020603050405020304" pitchFamily="18" charset="0"/>
                <a:ea typeface="MS PGothic"/>
                <a:cs typeface="Times New Roman" panose="02020603050405020304" pitchFamily="18" charset="0"/>
              </a:rPr>
              <a:t> Kaushik (22109902166)</a:t>
            </a:r>
          </a:p>
          <a:p>
            <a:pPr algn="ctr">
              <a:spcBef>
                <a:spcPts val="400"/>
              </a:spcBef>
            </a:pPr>
            <a:r>
              <a:rPr lang="en-US" sz="2000" spc="-1" dirty="0" smtClean="0">
                <a:solidFill>
                  <a:srgbClr val="000000"/>
                </a:solidFill>
                <a:latin typeface="Times New Roman" panose="02020603050405020304" pitchFamily="18" charset="0"/>
                <a:ea typeface="MS PGothic"/>
                <a:cs typeface="Times New Roman" panose="02020603050405020304" pitchFamily="18" charset="0"/>
              </a:rPr>
              <a:t>Aditya Shanker </a:t>
            </a:r>
            <a:r>
              <a:rPr lang="en-US" sz="2000" spc="-1" smtClean="0">
                <a:solidFill>
                  <a:srgbClr val="000000"/>
                </a:solidFill>
                <a:latin typeface="Times New Roman" panose="02020603050405020304" pitchFamily="18" charset="0"/>
                <a:ea typeface="MS PGothic"/>
                <a:cs typeface="Times New Roman" panose="02020603050405020304" pitchFamily="18" charset="0"/>
              </a:rPr>
              <a:t>(2210990071)</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Swati Goel </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097280" y="0"/>
            <a:ext cx="491744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77225" y="931988"/>
            <a:ext cx="8838720" cy="4838571"/>
          </a:xfrm>
          <a:prstGeom prst="rect">
            <a:avLst/>
          </a:prstGeom>
          <a:noFill/>
          <a:ln w="9360">
            <a:noFill/>
          </a:ln>
        </p:spPr>
        <p:txBody>
          <a:bodyPr>
            <a:noAutofit/>
          </a:bodyPr>
          <a:lstStyle/>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139700" lvl="0">
              <a:buClr>
                <a:srgbClr val="000000"/>
              </a:buClr>
              <a:buSzPts val="1400"/>
            </a:pPr>
            <a:r>
              <a:rPr lang="en-GB" dirty="0">
                <a:latin typeface="Times New Roman" panose="02020603050405020304" pitchFamily="18" charset="0"/>
                <a:cs typeface="Times New Roman" panose="02020603050405020304" pitchFamily="18" charset="0"/>
              </a:rPr>
              <a:t>Cervical pain, especially among office workers and long‑term computer users, is rising due to extended screen time, poorly designed workspaces, and sustained forward‑head “tech neck” postures. These postures, characterized by hunching and minimal neck movement, are strongly associated with neck, shoulder, and upper‑back pain and can progress to chronic discomfort and reduced functional capacity. While conventional ergonomic measures such as desk adjustments, educational guidance, and scheduled breaks can help, their impact is modest because they rely heavily on consistent user compliance over time.</a:t>
            </a:r>
          </a:p>
          <a:p>
            <a:pPr marL="139700" lvl="0">
              <a:buClr>
                <a:srgbClr val="000000"/>
              </a:buClr>
              <a:buSzPts val="1400"/>
            </a:pPr>
            <a:endParaRPr lang="en-GB" dirty="0">
              <a:latin typeface="Times New Roman" panose="02020603050405020304" pitchFamily="18" charset="0"/>
              <a:cs typeface="Times New Roman" panose="02020603050405020304" pitchFamily="18" charset="0"/>
            </a:endParaRPr>
          </a:p>
          <a:p>
            <a:pPr marL="139700" lvl="0">
              <a:buClr>
                <a:srgbClr val="000000"/>
              </a:buClr>
              <a:buSzPts val="1400"/>
            </a:pPr>
            <a:r>
              <a:rPr lang="en-GB" dirty="0">
                <a:latin typeface="Times New Roman" panose="02020603050405020304" pitchFamily="18" charset="0"/>
                <a:cs typeface="Times New Roman" panose="02020603050405020304" pitchFamily="18" charset="0"/>
              </a:rPr>
              <a:t>Existing posture‑monitoring solutions, including smart chairs and wearable sensors, primarily track overall trunk or full‑body alignment and often require extra hardware such as belts, cushions, or specialized seating, which can be costly or inconvenient for everyday users. Recent advances in machine‑learning and pose‑estimation models now allow accurate motion tracking with ordinary cameras and low‑cost hardware, enabling non‑contact, camera‑based systems to monitor neck and upper‑body posture in real time. This creates an opportunity for a neck‑</a:t>
            </a:r>
            <a:r>
              <a:rPr lang="en-GB" dirty="0" err="1">
                <a:latin typeface="Times New Roman" panose="02020603050405020304" pitchFamily="18" charset="0"/>
                <a:cs typeface="Times New Roman" panose="02020603050405020304" pitchFamily="18" charset="0"/>
              </a:rPr>
              <a:t>centered</a:t>
            </a:r>
            <a:r>
              <a:rPr lang="en-GB" dirty="0">
                <a:latin typeface="Times New Roman" panose="02020603050405020304" pitchFamily="18" charset="0"/>
                <a:cs typeface="Times New Roman" panose="02020603050405020304" pitchFamily="18" charset="0"/>
              </a:rPr>
              <a:t> solution that continuously tracks cervical position and motion and provides timely, actionable feedback before mild discomfort escalates into chronic neck problems.</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5064C96-B3BE-1186-74BA-EED820BD24AA}"/>
              </a:ext>
            </a:extLst>
          </p:cNvPr>
          <p:cNvSpPr>
            <a:spLocks noGrp="1"/>
          </p:cNvSpPr>
          <p:nvPr>
            <p:ph type="subTitle"/>
          </p:nvPr>
        </p:nvSpPr>
        <p:spPr>
          <a:xfrm>
            <a:off x="267486" y="1166566"/>
            <a:ext cx="8609028" cy="4260916"/>
          </a:xfrm>
        </p:spPr>
        <p:txBody>
          <a:bodyPr/>
          <a:lstStyle/>
          <a:p>
            <a:pPr>
              <a:lnSpc>
                <a:spcPct val="100000"/>
              </a:lnSpc>
            </a:pPr>
            <a:r>
              <a:rPr lang="en-GB" sz="1800" dirty="0">
                <a:latin typeface="Times New Roman" panose="02020603050405020304" pitchFamily="18" charset="0"/>
                <a:cs typeface="Times New Roman" panose="02020603050405020304" pitchFamily="18" charset="0"/>
              </a:rPr>
              <a:t>Despite the availability of ergonomic recommendations and a range of sensor‑based and wearable posture devices, there remains a clear gap in systems that specifically and continuously monitor neck‑focused movement in a non‑intrusive, low‑cost way. Many existing solutions either demand specialized equipment (smart chairs, pressure arrays, belts, cushions) or emphasize overall sitting posture rather than capturing the amount and continuity of cervical motion over time, which is a key risk factor in nonspecific neck pain. In addition, systematic reviews highlight limited evaluation of feedback mechanisms and call for designs that are more user‑friendly, precise, and privacy‑aware.</a:t>
            </a:r>
          </a:p>
          <a:p>
            <a:pPr>
              <a:lnSpc>
                <a:spcPct val="100000"/>
              </a:lnSpc>
            </a:pPr>
            <a:endParaRPr lang="en-GB" sz="1800" dirty="0">
              <a:latin typeface="Times New Roman" panose="02020603050405020304" pitchFamily="18" charset="0"/>
              <a:cs typeface="Times New Roman" panose="02020603050405020304" pitchFamily="18" charset="0"/>
            </a:endParaRPr>
          </a:p>
          <a:p>
            <a:pPr>
              <a:lnSpc>
                <a:spcPct val="100000"/>
              </a:lnSpc>
            </a:pPr>
            <a:r>
              <a:rPr lang="en-GB" sz="1800" dirty="0">
                <a:latin typeface="Times New Roman" panose="02020603050405020304" pitchFamily="18" charset="0"/>
                <a:cs typeface="Times New Roman" panose="02020603050405020304" pitchFamily="18" charset="0"/>
              </a:rPr>
              <a:t>Current camera‑based systems often concentrate on general posture classification rather than detecting prolonged static neck postures and subtle restrictions in head movement that contribute to cervical strain. For typical computer users, there is no widely adopted, contact‑free tool that can sit in the background, track neck posture continuously via a normal webcam, recognize when neck movement stays below a safe threshold for too long, and then trigger timely, supportive interventions. Addressing this lack of continuous neck‑specific surveillance and feedback is the core problem that </a:t>
            </a:r>
            <a:r>
              <a:rPr lang="en-GB" sz="1800" dirty="0" err="1">
                <a:latin typeface="Times New Roman" panose="02020603050405020304" pitchFamily="18" charset="0"/>
                <a:cs typeface="Times New Roman" panose="02020603050405020304" pitchFamily="18" charset="0"/>
              </a:rPr>
              <a:t>Nodwise</a:t>
            </a:r>
            <a:r>
              <a:rPr lang="en-GB" sz="1800" dirty="0">
                <a:latin typeface="Times New Roman" panose="02020603050405020304" pitchFamily="18" charset="0"/>
                <a:cs typeface="Times New Roman" panose="02020603050405020304" pitchFamily="18" charset="0"/>
              </a:rPr>
              <a:t> aims to solve.</a:t>
            </a:r>
            <a:endParaRPr lang="en-IN" sz="1800" dirty="0">
              <a:latin typeface="Times New Roman" panose="02020603050405020304" pitchFamily="18" charset="0"/>
              <a:cs typeface="Times New Roman" panose="02020603050405020304" pitchFamily="18" charset="0"/>
            </a:endParaRPr>
          </a:p>
        </p:txBody>
      </p:sp>
      <p:sp>
        <p:nvSpPr>
          <p:cNvPr id="4" name="TextShape 1">
            <a:extLst>
              <a:ext uri="{FF2B5EF4-FFF2-40B4-BE49-F238E27FC236}">
                <a16:creationId xmlns:a16="http://schemas.microsoft.com/office/drawing/2014/main" id="{5D8FBCB7-BA4E-5F74-D238-684EFDFD018D}"/>
              </a:ext>
            </a:extLst>
          </p:cNvPr>
          <p:cNvSpPr txBox="1">
            <a:spLocks noGrp="1"/>
          </p:cNvSpPr>
          <p:nvPr>
            <p:ph type="title"/>
          </p:nvPr>
        </p:nvSpPr>
        <p:spPr>
          <a:xfrm>
            <a:off x="950913" y="0"/>
            <a:ext cx="5185727" cy="84328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5460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CBCC7-5F80-9E78-EDB5-AD536ADFEA04}"/>
              </a:ext>
            </a:extLst>
          </p:cNvPr>
          <p:cNvSpPr>
            <a:spLocks noGrp="1"/>
          </p:cNvSpPr>
          <p:nvPr>
            <p:ph type="title"/>
          </p:nvPr>
        </p:nvSpPr>
        <p:spPr>
          <a:xfrm>
            <a:off x="975360" y="0"/>
            <a:ext cx="5486040" cy="914040"/>
          </a:xfrm>
        </p:spPr>
        <p:txBody>
          <a:bodyPr/>
          <a:lstStyle/>
          <a:p>
            <a:r>
              <a:rPr lang="en-IN" dirty="0"/>
              <a:t>         </a:t>
            </a:r>
          </a:p>
        </p:txBody>
      </p:sp>
      <p:sp>
        <p:nvSpPr>
          <p:cNvPr id="3" name="Subtitle 2">
            <a:extLst>
              <a:ext uri="{FF2B5EF4-FFF2-40B4-BE49-F238E27FC236}">
                <a16:creationId xmlns:a16="http://schemas.microsoft.com/office/drawing/2014/main" id="{9A425EE2-3B1B-565E-E7F5-AF0C132A148E}"/>
              </a:ext>
            </a:extLst>
          </p:cNvPr>
          <p:cNvSpPr>
            <a:spLocks noGrp="1"/>
          </p:cNvSpPr>
          <p:nvPr>
            <p:ph type="subTitle"/>
          </p:nvPr>
        </p:nvSpPr>
        <p:spPr>
          <a:xfrm>
            <a:off x="329937" y="1440360"/>
            <a:ext cx="8252809" cy="3977280"/>
          </a:xfrm>
        </p:spPr>
        <p:txBody>
          <a:bodyPr/>
          <a:lstStyle/>
          <a:p>
            <a:pPr>
              <a:lnSpc>
                <a:spcPct val="100000"/>
              </a:lnSpc>
            </a:pPr>
            <a:r>
              <a:rPr lang="en-US" sz="1800" dirty="0" smtClean="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The primary objective of </a:t>
            </a:r>
            <a:r>
              <a:rPr lang="en-GB" sz="1800" dirty="0" err="1">
                <a:latin typeface="Times New Roman" panose="02020603050405020304" pitchFamily="18" charset="0"/>
                <a:cs typeface="Times New Roman" panose="02020603050405020304" pitchFamily="18" charset="0"/>
              </a:rPr>
              <a:t>Nodwise</a:t>
            </a:r>
            <a:r>
              <a:rPr lang="en-GB" sz="1800" dirty="0">
                <a:latin typeface="Times New Roman" panose="02020603050405020304" pitchFamily="18" charset="0"/>
                <a:cs typeface="Times New Roman" panose="02020603050405020304" pitchFamily="18" charset="0"/>
              </a:rPr>
              <a:t> is to provide a software‑only, camera‑based framework that performs continuous, non‑contact monitoring of cervical posture and movement using a standard webcam, without requiring any specialized hardware or wearables. It aims to detect not only alignment issues like forward head posture but also prolonged static periods where neck motion falls below a small, configurable threshold over user‑defined time windows. By doing so, the system seeks to identify risky periods of immobility early and prompt users before discomfort progresses.</a:t>
            </a:r>
          </a:p>
          <a:p>
            <a:pPr>
              <a:lnSpc>
                <a:spcPct val="100000"/>
              </a:lnSpc>
            </a:pPr>
            <a:endParaRPr lang="en-GB" sz="1800" dirty="0">
              <a:latin typeface="Times New Roman" panose="02020603050405020304" pitchFamily="18" charset="0"/>
              <a:cs typeface="Times New Roman" panose="02020603050405020304" pitchFamily="18" charset="0"/>
            </a:endParaRPr>
          </a:p>
          <a:p>
            <a:pPr>
              <a:lnSpc>
                <a:spcPct val="100000"/>
              </a:lnSpc>
            </a:pPr>
            <a:r>
              <a:rPr lang="en-GB" sz="1800" dirty="0">
                <a:latin typeface="Times New Roman" panose="02020603050405020304" pitchFamily="18" charset="0"/>
                <a:cs typeface="Times New Roman" panose="02020603050405020304" pitchFamily="18" charset="0"/>
              </a:rPr>
              <a:t>A second key objective is to couple this real‑time monitoring with intelligent, user‑</a:t>
            </a:r>
            <a:r>
              <a:rPr lang="en-GB" sz="1800" dirty="0" err="1">
                <a:latin typeface="Times New Roman" panose="02020603050405020304" pitchFamily="18" charset="0"/>
                <a:cs typeface="Times New Roman" panose="02020603050405020304" pitchFamily="18" charset="0"/>
              </a:rPr>
              <a:t>centered</a:t>
            </a:r>
            <a:r>
              <a:rPr lang="en-GB" sz="1800" dirty="0">
                <a:latin typeface="Times New Roman" panose="02020603050405020304" pitchFamily="18" charset="0"/>
                <a:cs typeface="Times New Roman" panose="02020603050405020304" pitchFamily="18" charset="0"/>
              </a:rPr>
              <a:t> feedback, including visual or auditory alerts and simple neck‑strengthening or mobility exercises delivered at appropriate moments during actual work hours. </a:t>
            </a:r>
            <a:r>
              <a:rPr lang="en-GB" sz="1800" dirty="0" err="1">
                <a:latin typeface="Times New Roman" panose="02020603050405020304" pitchFamily="18" charset="0"/>
                <a:cs typeface="Times New Roman" panose="02020603050405020304" pitchFamily="18" charset="0"/>
              </a:rPr>
              <a:t>Nodwise</a:t>
            </a:r>
            <a:r>
              <a:rPr lang="en-GB" sz="1800" dirty="0">
                <a:latin typeface="Times New Roman" panose="02020603050405020304" pitchFamily="18" charset="0"/>
                <a:cs typeface="Times New Roman" panose="02020603050405020304" pitchFamily="18" charset="0"/>
              </a:rPr>
              <a:t> is designed to be customizable (alert frequency, immobility thresholds, exercise difficulty), minimally disruptive, and privacy‑respecting, while logging posture and movement data to support both objective metrics (frequency and duration of static postures, response to alerts) and subjective outcomes such as perceived discomfort and posture awareness. Collectively, these objectives aim to enhance neck‑health awareness, encourage regular movement, and contribute to early prevention of work‑related musculoskeletal disorders.</a:t>
            </a:r>
            <a:endParaRPr lang="en-IN" sz="1800" dirty="0">
              <a:latin typeface="Times New Roman" panose="02020603050405020304" pitchFamily="18" charset="0"/>
              <a:cs typeface="Times New Roman" panose="02020603050405020304" pitchFamily="18" charset="0"/>
            </a:endParaRPr>
          </a:p>
        </p:txBody>
      </p:sp>
      <p:sp>
        <p:nvSpPr>
          <p:cNvPr id="4" name="TextShape 1">
            <a:extLst>
              <a:ext uri="{FF2B5EF4-FFF2-40B4-BE49-F238E27FC236}">
                <a16:creationId xmlns:a16="http://schemas.microsoft.com/office/drawing/2014/main" id="{D86A46AE-F7EC-FFFE-7029-C75AAF55E53B}"/>
              </a:ext>
            </a:extLst>
          </p:cNvPr>
          <p:cNvSpPr txBox="1">
            <a:spLocks/>
          </p:cNvSpPr>
          <p:nvPr/>
        </p:nvSpPr>
        <p:spPr>
          <a:xfrm>
            <a:off x="866072" y="-360"/>
            <a:ext cx="5486400" cy="823320"/>
          </a:xfrm>
          <a:prstGeom prst="rect">
            <a:avLst/>
          </a:prstGeom>
          <a:noFill/>
          <a:ln w="936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Objective</a:t>
            </a:r>
            <a:endParaRPr lang="en-US" sz="3000"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2028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ABE47-6C86-90EF-0FDE-32A60BB22512}"/>
              </a:ext>
            </a:extLst>
          </p:cNvPr>
          <p:cNvSpPr>
            <a:spLocks noGrp="1"/>
          </p:cNvSpPr>
          <p:nvPr>
            <p:ph type="title"/>
          </p:nvPr>
        </p:nvSpPr>
        <p:spPr>
          <a:xfrm>
            <a:off x="1282045" y="0"/>
            <a:ext cx="5486040" cy="914040"/>
          </a:xfrm>
        </p:spPr>
        <p:txBody>
          <a:bodyPr/>
          <a:lstStyle/>
          <a:p>
            <a:r>
              <a:rPr lang="en-IN" dirty="0"/>
              <a:t> </a:t>
            </a:r>
          </a:p>
        </p:txBody>
      </p:sp>
      <p:sp>
        <p:nvSpPr>
          <p:cNvPr id="3" name="Subtitle 2">
            <a:extLst>
              <a:ext uri="{FF2B5EF4-FFF2-40B4-BE49-F238E27FC236}">
                <a16:creationId xmlns:a16="http://schemas.microsoft.com/office/drawing/2014/main" id="{945756DE-4A45-E84B-3310-F296DDF88E23}"/>
              </a:ext>
            </a:extLst>
          </p:cNvPr>
          <p:cNvSpPr>
            <a:spLocks noGrp="1"/>
          </p:cNvSpPr>
          <p:nvPr>
            <p:ph type="subTitle"/>
          </p:nvPr>
        </p:nvSpPr>
        <p:spPr>
          <a:xfrm>
            <a:off x="0" y="812799"/>
            <a:ext cx="9144000" cy="5839927"/>
          </a:xfrm>
        </p:spPr>
        <p:txBody>
          <a:bodyPr/>
          <a:lstStyle/>
          <a:p>
            <a:endParaRPr lang="en-GB" sz="1400" dirty="0" smtClean="0"/>
          </a:p>
          <a:p>
            <a:endParaRPr lang="en-GB" sz="1400" dirty="0"/>
          </a:p>
          <a:p>
            <a:endParaRPr lang="en-GB" sz="1400" dirty="0" smtClean="0"/>
          </a:p>
          <a:p>
            <a:endParaRPr lang="en-IN" sz="1400" dirty="0"/>
          </a:p>
        </p:txBody>
      </p:sp>
      <p:sp>
        <p:nvSpPr>
          <p:cNvPr id="4" name="TextShape 1">
            <a:extLst>
              <a:ext uri="{FF2B5EF4-FFF2-40B4-BE49-F238E27FC236}">
                <a16:creationId xmlns:a16="http://schemas.microsoft.com/office/drawing/2014/main" id="{4834DCD7-9E4F-F1DD-07AA-6592613A8386}"/>
              </a:ext>
            </a:extLst>
          </p:cNvPr>
          <p:cNvSpPr txBox="1">
            <a:spLocks/>
          </p:cNvSpPr>
          <p:nvPr/>
        </p:nvSpPr>
        <p:spPr>
          <a:xfrm>
            <a:off x="1282045" y="-360"/>
            <a:ext cx="4194196" cy="813160"/>
          </a:xfrm>
          <a:prstGeom prst="rect">
            <a:avLst/>
          </a:prstGeom>
          <a:noFill/>
          <a:ln w="936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  Result</a:t>
            </a:r>
            <a:endParaRPr lang="en-US" sz="3000" spc="-1" dirty="0">
              <a:solidFill>
                <a:srgbClr val="0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326573" y="914040"/>
            <a:ext cx="8817427" cy="3693319"/>
          </a:xfrm>
          <a:prstGeom prst="rect">
            <a:avLst/>
          </a:prstGeom>
        </p:spPr>
        <p:txBody>
          <a:bodyPr wrap="square">
            <a:spAutoFit/>
          </a:bodyPr>
          <a:lstStyle/>
          <a:p>
            <a:endParaRPr lang="en-US" dirty="0" smtClean="0"/>
          </a:p>
          <a:p>
            <a:endParaRPr lang="en-US" dirty="0"/>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proposed NODWISE framework </a:t>
            </a:r>
            <a:r>
              <a:rPr lang="en-US" dirty="0" smtClean="0">
                <a:latin typeface="Times New Roman" panose="02020603050405020304" pitchFamily="18" charset="0"/>
                <a:cs typeface="Times New Roman" panose="02020603050405020304" pitchFamily="18" charset="0"/>
              </a:rPr>
              <a:t>demonstrated </a:t>
            </a:r>
            <a:r>
              <a:rPr lang="en-US" dirty="0">
                <a:latin typeface="Times New Roman" panose="02020603050405020304" pitchFamily="18" charset="0"/>
                <a:cs typeface="Times New Roman" panose="02020603050405020304" pitchFamily="18" charset="0"/>
              </a:rPr>
              <a:t>strong real-time posture monitoring performance across all major modules</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pose estimation model achieved an accuracy of 96.5%, while neck angle detection achieved 94.2% accuracy. Temporal movement analysis achieved 92.8% accuracy in identifying prolonged static posture</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framework maintained smooth real-time performance at approximately 15–25 FPS using only a standard webcam. User evaluations also showed improved posture awareness, increased neck movement, and reduced neck discomfort after continuous system usage.</a:t>
            </a:r>
          </a:p>
        </p:txBody>
      </p:sp>
    </p:spTree>
    <p:extLst>
      <p:ext uri="{BB962C8B-B14F-4D97-AF65-F5344CB8AC3E}">
        <p14:creationId xmlns:p14="http://schemas.microsoft.com/office/powerpoint/2010/main" val="12411810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1E72A-4519-52F3-1BAC-02FC6232D41E}"/>
              </a:ext>
            </a:extLst>
          </p:cNvPr>
          <p:cNvSpPr>
            <a:spLocks noGrp="1"/>
          </p:cNvSpPr>
          <p:nvPr>
            <p:ph type="title"/>
          </p:nvPr>
        </p:nvSpPr>
        <p:spPr>
          <a:xfrm>
            <a:off x="1645920" y="18854"/>
            <a:ext cx="3749040" cy="814266"/>
          </a:xfrm>
        </p:spPr>
        <p:txBody>
          <a:bodyPr/>
          <a:lstStyle/>
          <a:p>
            <a:r>
              <a:rPr lang="en-IN" dirty="0"/>
              <a:t>   </a:t>
            </a:r>
          </a:p>
        </p:txBody>
      </p:sp>
      <p:sp>
        <p:nvSpPr>
          <p:cNvPr id="3" name="Subtitle 2">
            <a:extLst>
              <a:ext uri="{FF2B5EF4-FFF2-40B4-BE49-F238E27FC236}">
                <a16:creationId xmlns:a16="http://schemas.microsoft.com/office/drawing/2014/main" id="{A0F41D60-D35B-F7E2-3FD1-2B3594C1E37B}"/>
              </a:ext>
            </a:extLst>
          </p:cNvPr>
          <p:cNvSpPr>
            <a:spLocks noGrp="1"/>
          </p:cNvSpPr>
          <p:nvPr>
            <p:ph type="subTitle"/>
          </p:nvPr>
        </p:nvSpPr>
        <p:spPr>
          <a:xfrm>
            <a:off x="314960" y="3083920"/>
            <a:ext cx="8280400" cy="914040"/>
          </a:xfrm>
        </p:spPr>
        <p:txBody>
          <a:bodyPr/>
          <a:lstStyle/>
          <a:p>
            <a:pPr>
              <a:lnSpc>
                <a:spcPct val="100000"/>
              </a:lnSpc>
            </a:pPr>
            <a:r>
              <a:rPr lang="en-GB" sz="1800" dirty="0" err="1">
                <a:latin typeface="Times New Roman" panose="02020603050405020304" pitchFamily="18" charset="0"/>
                <a:cs typeface="Times New Roman" panose="02020603050405020304" pitchFamily="18" charset="0"/>
              </a:rPr>
              <a:t>Nodwise</a:t>
            </a:r>
            <a:r>
              <a:rPr lang="en-GB" sz="1800" dirty="0">
                <a:latin typeface="Times New Roman" panose="02020603050405020304" pitchFamily="18" charset="0"/>
                <a:cs typeface="Times New Roman" panose="02020603050405020304" pitchFamily="18" charset="0"/>
              </a:rPr>
              <a:t> demonstrates that a machine‑learning–based, camera‑only interface can continuously track cervical posture, detect extended static neck positions in real time, and deliver practical exercises and alerts without additional hardware. By integrating posture‑tracking advances, pose‑estimation algorithms, and user‑</a:t>
            </a:r>
            <a:r>
              <a:rPr lang="en-GB" sz="1800" dirty="0" err="1">
                <a:latin typeface="Times New Roman" panose="02020603050405020304" pitchFamily="18" charset="0"/>
                <a:cs typeface="Times New Roman" panose="02020603050405020304" pitchFamily="18" charset="0"/>
              </a:rPr>
              <a:t>centered</a:t>
            </a:r>
            <a:r>
              <a:rPr lang="en-GB" sz="1800" dirty="0">
                <a:latin typeface="Times New Roman" panose="02020603050405020304" pitchFamily="18" charset="0"/>
                <a:cs typeface="Times New Roman" panose="02020603050405020304" pitchFamily="18" charset="0"/>
              </a:rPr>
              <a:t> feedback into a low‑budget, non‑contact software framework, the system directly addresses the needs of modern computer‑centric work environments where “tech neck” is increasingly common. Initial pilot evidence indicates improved posture awareness and perceived neck mobility among users, suggesting that such systems can play a meaningful role in the early prevention of neck‑related musculoskeletal disorders.</a:t>
            </a:r>
          </a:p>
          <a:p>
            <a:pPr>
              <a:lnSpc>
                <a:spcPct val="100000"/>
              </a:lnSpc>
            </a:pPr>
            <a:endParaRPr lang="en-GB" sz="1800" dirty="0">
              <a:latin typeface="Times New Roman" panose="02020603050405020304" pitchFamily="18" charset="0"/>
              <a:cs typeface="Times New Roman" panose="02020603050405020304" pitchFamily="18" charset="0"/>
            </a:endParaRPr>
          </a:p>
          <a:p>
            <a:pPr>
              <a:lnSpc>
                <a:spcPct val="100000"/>
              </a:lnSpc>
            </a:pPr>
            <a:r>
              <a:rPr lang="en-GB" sz="1800" dirty="0">
                <a:latin typeface="Times New Roman" panose="02020603050405020304" pitchFamily="18" charset="0"/>
                <a:cs typeface="Times New Roman" panose="02020603050405020304" pitchFamily="18" charset="0"/>
              </a:rPr>
              <a:t>However, the current evaluation is based on a small, uncontrolled pilot and relies heavily on self‑reported discomfort and awareness rather than comprehensive clinical outcomes or long‑term follow‑up. Future work should therefore include larger, controlled studies with validated musculoskeletal measures, extended monitoring periods, and integration with broader ergonomic and wellness ecosystems, such as organizational dashboards or smart workstations. Advancing pose‑estimation models, exploring multimodal sensing with optional IMUs, and developing personalized risk‑based alerting strategies will further strengthen </a:t>
            </a:r>
            <a:r>
              <a:rPr lang="en-GB" sz="1800" dirty="0" err="1">
                <a:latin typeface="Times New Roman" panose="02020603050405020304" pitchFamily="18" charset="0"/>
                <a:cs typeface="Times New Roman" panose="02020603050405020304" pitchFamily="18" charset="0"/>
              </a:rPr>
              <a:t>Nodwise’s</a:t>
            </a:r>
            <a:r>
              <a:rPr lang="en-GB" sz="1800" dirty="0">
                <a:latin typeface="Times New Roman" panose="02020603050405020304" pitchFamily="18" charset="0"/>
                <a:cs typeface="Times New Roman" panose="02020603050405020304" pitchFamily="18" charset="0"/>
              </a:rPr>
              <a:t> effectiveness and support its adoption at scale</a:t>
            </a:r>
            <a:endParaRPr lang="en-IN" sz="1400" dirty="0"/>
          </a:p>
        </p:txBody>
      </p:sp>
      <p:sp>
        <p:nvSpPr>
          <p:cNvPr id="4" name="TextShape 1">
            <a:extLst>
              <a:ext uri="{FF2B5EF4-FFF2-40B4-BE49-F238E27FC236}">
                <a16:creationId xmlns:a16="http://schemas.microsoft.com/office/drawing/2014/main" id="{89463B4E-D847-A26B-4D3C-417C505BF7EC}"/>
              </a:ext>
            </a:extLst>
          </p:cNvPr>
          <p:cNvSpPr txBox="1">
            <a:spLocks/>
          </p:cNvSpPr>
          <p:nvPr/>
        </p:nvSpPr>
        <p:spPr>
          <a:xfrm>
            <a:off x="1534161" y="19960"/>
            <a:ext cx="4124960" cy="813160"/>
          </a:xfrm>
          <a:prstGeom prst="rect">
            <a:avLst/>
          </a:prstGeom>
          <a:noFill/>
          <a:ln w="936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Conclusion</a:t>
            </a:r>
            <a:endParaRPr lang="en-US" sz="3000"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5900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Shape 1">
            <a:extLst>
              <a:ext uri="{FF2B5EF4-FFF2-40B4-BE49-F238E27FC236}">
                <a16:creationId xmlns:a16="http://schemas.microsoft.com/office/drawing/2014/main" id="{ECF263EE-491F-00F4-07FF-A80CA270C8CD}"/>
              </a:ext>
            </a:extLst>
          </p:cNvPr>
          <p:cNvSpPr txBox="1">
            <a:spLocks noGrp="1"/>
          </p:cNvSpPr>
          <p:nvPr>
            <p:ph type="title"/>
          </p:nvPr>
        </p:nvSpPr>
        <p:spPr>
          <a:xfrm>
            <a:off x="735291" y="-1"/>
            <a:ext cx="5486400" cy="829559"/>
          </a:xfrm>
          <a:prstGeom prst="rect">
            <a:avLst/>
          </a:prstGeom>
          <a:noFill/>
          <a:ln w="936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References </a:t>
            </a:r>
            <a:endParaRPr lang="en-US" sz="3000" spc="-1" dirty="0">
              <a:solidFill>
                <a:srgbClr val="000000"/>
              </a:solidFill>
              <a:latin typeface="Times New Roman" panose="02020603050405020304" pitchFamily="18" charset="0"/>
              <a:cs typeface="Times New Roman" panose="02020603050405020304" pitchFamily="18" charset="0"/>
            </a:endParaRPr>
          </a:p>
        </p:txBody>
      </p:sp>
      <p:sp>
        <p:nvSpPr>
          <p:cNvPr id="7" name="Rectangle 4"/>
          <p:cNvSpPr>
            <a:spLocks noChangeArrowheads="1"/>
          </p:cNvSpPr>
          <p:nvPr/>
        </p:nvSpPr>
        <p:spPr bwMode="auto">
          <a:xfrm>
            <a:off x="74759" y="-490448"/>
            <a:ext cx="9069241" cy="587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OpenPose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Realtime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Multi-person 2D Pose Estimation Based on Part Affinity Fields” IEEE Trans.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Pattern Anal. Mach.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Intell</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vol. 43, no. 1, pp. 172–186, 2021.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Fifth International Conference on Computer Vision and Pattern Recognition (ICCV 2012), pp. 740–755, 2014.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K. He, 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Gkioxari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Dollár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Girshick</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“Mask R-CNN,” Proc. IEEE Int. Conf. This paper was presented as part of the Computer Vision (ICCV) program. 2961–2969, 2017.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Pavllo</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Grangier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M.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Auli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“3-D human pose estimation in video with temporal convolutions and semi-supervised training”, Proc. IEEE Conf. Computer Vision and Pattern Recognition (CVPR), pp. 7753–7762, 2019.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Bazarevsky</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Grishchenko</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K.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Raveendran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 Zhu, F. Zhang and M.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Grundmann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BlazePose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On-device real time body pose tracking”,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arXiv</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preprint arXiv:2006.10204, 2020.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Kuhr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K. 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Luecke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 Murray, “The use of parallel tracking and mapping for small AR Workspaces,” IEEE Trans. on Visualization and Interactive Graphics, vol. 16, no. 3, pp. 487-489, 1999.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IEEE Int.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Symp</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Augmented and Mixed Reality, pp. 225–234, 2007.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Rezaei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R.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Klette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“Look at the driver, look at the road: No distraction! No accident!” Proc. IEEE Conf. The 2014 Computer Vision and Pattern Recognition Workshops.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 Lee, K. Park, “Ergonomic risk assessment of posture,” Applied Ergonomics, vol. 65, pp. 341–350, 2017.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Y. Park, H. Jung, “Forward head posture classification and kinematic analysis using deep learning in VDT workers” J. Back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Musculoskelet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Rehabil</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2024.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Piñero</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-Fuentes, 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Cañas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-Moreno, A. Rios-Navarro, I. Ortiz, E. Rueda-Velazquez, and A. Alfaro-Chavez, “A deep-learning based posture detection system for preventing telework-related” </a:t>
            </a:r>
          </a:p>
        </p:txBody>
      </p:sp>
    </p:spTree>
    <p:extLst>
      <p:ext uri="{BB962C8B-B14F-4D97-AF65-F5344CB8AC3E}">
        <p14:creationId xmlns:p14="http://schemas.microsoft.com/office/powerpoint/2010/main" val="685544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www.w3.org/XML/1998/namespace"/>
    <ds:schemaRef ds:uri="http://schemas.openxmlformats.org/package/2006/metadata/core-properties"/>
    <ds:schemaRef ds:uri="http://purl.org/dc/dcmitype/"/>
    <ds:schemaRef ds:uri="http://purl.org/dc/elements/1.1/"/>
    <ds:schemaRef ds:uri="http://schemas.microsoft.com/office/infopath/2007/PartnerControls"/>
    <ds:schemaRef ds:uri="http://schemas.microsoft.com/office/2006/documentManagement/types"/>
    <ds:schemaRef ds:uri="http://purl.org/dc/terms/"/>
    <ds:schemaRef ds:uri="http://schemas.microsoft.com/office/2006/metadata/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34820</TotalTime>
  <Words>1380</Words>
  <Application>Microsoft Office PowerPoint</Application>
  <PresentationFormat>On-screen Show (4:3)</PresentationFormat>
  <Paragraphs>81</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MS PGothic</vt:lpstr>
      <vt:lpstr>Arial</vt:lpstr>
      <vt:lpstr>Calibri</vt:lpstr>
      <vt:lpstr>DejaVu Sans</vt:lpstr>
      <vt:lpstr>Times New Roman</vt:lpstr>
      <vt:lpstr>Office Theme</vt:lpstr>
      <vt:lpstr>PowerPoint Presentation</vt:lpstr>
      <vt:lpstr>PowerPoint Presentation</vt:lpstr>
      <vt:lpstr>Problem Statement</vt:lpstr>
      <vt:lpstr>         </vt:lpstr>
      <vt:lpstr> </vt:lpstr>
      <vt:lpstr>   </vt:lpstr>
      <vt:lpstr>References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Windows User</cp:lastModifiedBy>
  <cp:revision>2311</cp:revision>
  <dcterms:created xsi:type="dcterms:W3CDTF">2010-04-09T07:36:15Z</dcterms:created>
  <dcterms:modified xsi:type="dcterms:W3CDTF">2026-05-17T15:35:53Z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